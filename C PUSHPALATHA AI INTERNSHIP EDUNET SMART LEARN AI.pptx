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6" r:id="rId5"/>
    <p:sldId id="2146847054" r:id="rId6"/>
    <p:sldId id="262" r:id="rId7"/>
    <p:sldId id="263" r:id="rId8"/>
    <p:sldId id="265" r:id="rId9"/>
    <p:sldId id="266" r:id="rId10"/>
    <p:sldId id="267" r:id="rId11"/>
    <p:sldId id="2146847062" r:id="rId12"/>
    <p:sldId id="2146847059" r:id="rId13"/>
    <p:sldId id="2146847060" r:id="rId14"/>
    <p:sldId id="2146847061" r:id="rId15"/>
    <p:sldId id="268" r:id="rId16"/>
    <p:sldId id="2146847055" r:id="rId17"/>
    <p:sldId id="269" r:id="rId18"/>
    <p:sldId id="2146847058"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1894C-301F-41EB-9198-36D4DC3D6702}" v="1" dt="2026-06-28T15:04:01.3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6/28/2026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6/28/2026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6/28/2026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6/28/2026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6/28/2026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6/28/2026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6/28/2026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6/28/2026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6/28/2026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6/28/2026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python.org/" TargetMode="External"/><Relationship Id="rId7" Type="http://schemas.openxmlformats.org/officeDocument/2006/relationships/hyperlink" Target="https://googleapis.github.io/python-genai/" TargetMode="External"/><Relationship Id="rId2" Type="http://schemas.openxmlformats.org/officeDocument/2006/relationships/hyperlink" Target="https://streamlit.io/" TargetMode="External"/><Relationship Id="rId1" Type="http://schemas.openxmlformats.org/officeDocument/2006/relationships/slideLayout" Target="../slideLayouts/slideLayout2.xml"/><Relationship Id="rId6" Type="http://schemas.openxmlformats.org/officeDocument/2006/relationships/hyperlink" Target="https://docs.python.org/3/" TargetMode="External"/><Relationship Id="rId5" Type="http://schemas.openxmlformats.org/officeDocument/2006/relationships/hyperlink" Target="https://docs.streamlit.io/" TargetMode="External"/><Relationship Id="rId4" Type="http://schemas.openxmlformats.org/officeDocument/2006/relationships/hyperlink" Target="https://ai.google.dev/"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cpushpalatha9/SmartLearn-AI"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138647" y="1972704"/>
            <a:ext cx="9914705" cy="783771"/>
          </a:xfrm>
        </p:spPr>
        <p:txBody>
          <a:bodyPr>
            <a:noAutofit/>
          </a:bodyPr>
          <a:lstStyle/>
          <a:p>
            <a:pPr algn="ctr"/>
            <a:br>
              <a:rPr lang="en-US" sz="2800" b="1" dirty="0">
                <a:solidFill>
                  <a:schemeClr val="accent1"/>
                </a:solidFill>
                <a:latin typeface="Arial" panose="020B0604020202020204" pitchFamily="34" charset="0"/>
                <a:cs typeface="Arial" panose="020B0604020202020204" pitchFamily="34" charset="0"/>
              </a:rPr>
            </a:br>
            <a:br>
              <a:rPr lang="en-US" sz="2800" b="1" dirty="0">
                <a:solidFill>
                  <a:schemeClr val="accent1"/>
                </a:solidFill>
                <a:latin typeface="Arial" panose="020B0604020202020204" pitchFamily="34" charset="0"/>
                <a:cs typeface="Arial" panose="020B0604020202020204" pitchFamily="34" charset="0"/>
              </a:rPr>
            </a:br>
            <a:br>
              <a:rPr lang="en-US" sz="2800" b="1" dirty="0">
                <a:solidFill>
                  <a:schemeClr val="accent1"/>
                </a:solidFill>
                <a:latin typeface="Arial" panose="020B0604020202020204" pitchFamily="34" charset="0"/>
                <a:cs typeface="Arial" panose="020B0604020202020204" pitchFamily="34" charset="0"/>
              </a:rPr>
            </a:br>
            <a:br>
              <a:rPr lang="en-US" sz="2800" b="1" dirty="0">
                <a:solidFill>
                  <a:schemeClr val="accent1"/>
                </a:solidFill>
                <a:latin typeface="Arial" panose="020B0604020202020204" pitchFamily="34" charset="0"/>
                <a:cs typeface="Arial" panose="020B0604020202020204" pitchFamily="34" charset="0"/>
              </a:rPr>
            </a:br>
            <a:r>
              <a:rPr lang="en-US" sz="3200" b="1" dirty="0">
                <a:solidFill>
                  <a:schemeClr val="accent1"/>
                </a:solidFill>
                <a:latin typeface="Arial" panose="020B0604020202020204" pitchFamily="34" charset="0"/>
                <a:cs typeface="Arial" panose="020B0604020202020204" pitchFamily="34" charset="0"/>
              </a:rPr>
              <a:t>Smart Learn AI</a:t>
            </a:r>
            <a:br>
              <a:rPr lang="en-US" sz="2800" b="1" dirty="0">
                <a:solidFill>
                  <a:schemeClr val="accent1"/>
                </a:solidFill>
                <a:latin typeface="Arial" panose="020B0604020202020204" pitchFamily="34" charset="0"/>
                <a:cs typeface="Arial" panose="020B0604020202020204" pitchFamily="34" charset="0"/>
              </a:rPr>
            </a:br>
            <a:r>
              <a:rPr lang="en-US" sz="1800" b="1" dirty="0">
                <a:solidFill>
                  <a:schemeClr val="accent1"/>
                </a:solidFill>
                <a:latin typeface="Arial" panose="020B0604020202020204" pitchFamily="34" charset="0"/>
                <a:cs typeface="Arial" panose="020B0604020202020204" pitchFamily="34" charset="0"/>
              </a:rPr>
              <a:t>An Intelligent AI-Powered Study Assistant for </a:t>
            </a:r>
            <a:r>
              <a:rPr lang="en-US" sz="1800" b="1" dirty="0" err="1">
                <a:solidFill>
                  <a:schemeClr val="accent1"/>
                </a:solidFill>
                <a:latin typeface="Arial" panose="020B0604020202020204" pitchFamily="34" charset="0"/>
                <a:cs typeface="Arial" panose="020B0604020202020204" pitchFamily="34" charset="0"/>
              </a:rPr>
              <a:t>Personalised</a:t>
            </a:r>
            <a:r>
              <a:rPr lang="en-US" sz="1800" b="1" dirty="0">
                <a:solidFill>
                  <a:schemeClr val="accent1"/>
                </a:solidFill>
                <a:latin typeface="Arial" panose="020B0604020202020204" pitchFamily="34" charset="0"/>
                <a:cs typeface="Arial" panose="020B0604020202020204" pitchFamily="34" charset="0"/>
              </a:rPr>
              <a:t> Learning</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310351" y="439208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C PUSHPALATHA</a:t>
            </a:r>
          </a:p>
          <a:p>
            <a:r>
              <a:rPr lang="en-US" sz="2000" b="1" dirty="0">
                <a:solidFill>
                  <a:schemeClr val="accent1">
                    <a:lumMod val="75000"/>
                  </a:schemeClr>
                </a:solidFill>
                <a:latin typeface="Arial"/>
                <a:cs typeface="Arial"/>
              </a:rPr>
              <a:t>JUSTICE BASHEER AHMED SAYEED COLLEGE FOR WOMEN</a:t>
            </a:r>
          </a:p>
          <a:p>
            <a:r>
              <a:rPr lang="en-US" sz="2000" b="1" dirty="0">
                <a:solidFill>
                  <a:schemeClr val="accent1">
                    <a:lumMod val="75000"/>
                  </a:schemeClr>
                </a:solidFill>
                <a:latin typeface="Arial"/>
                <a:cs typeface="Arial"/>
              </a:rPr>
              <a:t>MASTER OF COMPUTER APPLICATIONS</a:t>
            </a:r>
          </a:p>
          <a:p>
            <a:r>
              <a:rPr lang="en-US" sz="2000" b="1" dirty="0">
                <a:solidFill>
                  <a:schemeClr val="accent1">
                    <a:lumMod val="75000"/>
                  </a:schemeClr>
                </a:solidFill>
                <a:latin typeface="Arial"/>
                <a:cs typeface="Arial"/>
              </a:rPr>
              <a:t>AICTE Student ID: STU696132c929d891767977673</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lgn="just">
              <a:buNone/>
            </a:pPr>
            <a:r>
              <a:rPr lang="en-US" sz="2400" dirty="0">
                <a:latin typeface="Arial" panose="020B0604020202020204" pitchFamily="34" charset="0"/>
                <a:cs typeface="Arial" panose="020B0604020202020204" pitchFamily="34" charset="0"/>
              </a:rPr>
              <a:t>Students often struggle to understand complex concepts, prepare concise study notes, revise effectively, and assess their knowledge. Existing study methods require switching between multiple platforms for concept explanation, </a:t>
            </a:r>
            <a:r>
              <a:rPr lang="en-US" sz="2400" dirty="0" err="1">
                <a:latin typeface="Arial" panose="020B0604020202020204" pitchFamily="34" charset="0"/>
                <a:cs typeface="Arial" panose="020B0604020202020204" pitchFamily="34" charset="0"/>
              </a:rPr>
              <a:t>summarisation</a:t>
            </a:r>
            <a:r>
              <a:rPr lang="en-US" sz="2400" dirty="0">
                <a:latin typeface="Arial" panose="020B0604020202020204" pitchFamily="34" charset="0"/>
                <a:cs typeface="Arial" panose="020B0604020202020204" pitchFamily="34" charset="0"/>
              </a:rPr>
              <a:t>, revision, and quiz preparation, making the learning process time-consuming and less interactive.</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3" name="TextBox 2">
            <a:extLst>
              <a:ext uri="{FF2B5EF4-FFF2-40B4-BE49-F238E27FC236}">
                <a16:creationId xmlns:a16="http://schemas.microsoft.com/office/drawing/2014/main" id="{C27246E2-7A04-39F2-1CC4-B888622ADA8F}"/>
              </a:ext>
            </a:extLst>
          </p:cNvPr>
          <p:cNvSpPr txBox="1"/>
          <p:nvPr/>
        </p:nvSpPr>
        <p:spPr>
          <a:xfrm>
            <a:off x="511431" y="1232452"/>
            <a:ext cx="11169137" cy="5262979"/>
          </a:xfrm>
          <a:prstGeom prst="rect">
            <a:avLst/>
          </a:prstGeom>
          <a:noFill/>
        </p:spPr>
        <p:txBody>
          <a:bodyPr wrap="square" rtlCol="0">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Overview</a:t>
            </a:r>
          </a:p>
          <a:p>
            <a:r>
              <a:rPr lang="en-US" sz="1400" dirty="0" err="1">
                <a:latin typeface="Calibri" panose="020F0502020204030204" pitchFamily="34" charset="0"/>
                <a:ea typeface="Calibri" panose="020F0502020204030204" pitchFamily="34" charset="0"/>
                <a:cs typeface="Calibri" panose="020F0502020204030204" pitchFamily="34" charset="0"/>
              </a:rPr>
              <a:t>SmartLearn</a:t>
            </a:r>
            <a:r>
              <a:rPr lang="en-US" sz="1400" dirty="0">
                <a:latin typeface="Calibri" panose="020F0502020204030204" pitchFamily="34" charset="0"/>
                <a:ea typeface="Calibri" panose="020F0502020204030204" pitchFamily="34" charset="0"/>
                <a:cs typeface="Calibri" panose="020F0502020204030204" pitchFamily="34" charset="0"/>
              </a:rPr>
              <a:t> AI is an AI-powered educational platform developed using Python, </a:t>
            </a:r>
            <a:r>
              <a:rPr lang="en-US" sz="1400" dirty="0" err="1">
                <a:latin typeface="Calibri" panose="020F0502020204030204" pitchFamily="34" charset="0"/>
                <a:ea typeface="Calibri" panose="020F0502020204030204" pitchFamily="34" charset="0"/>
                <a:cs typeface="Calibri" panose="020F0502020204030204" pitchFamily="34" charset="0"/>
              </a:rPr>
              <a:t>Streamlit</a:t>
            </a:r>
            <a:r>
              <a:rPr lang="en-US" sz="1400" dirty="0">
                <a:latin typeface="Calibri" panose="020F0502020204030204" pitchFamily="34" charset="0"/>
                <a:ea typeface="Calibri" panose="020F0502020204030204" pitchFamily="34" charset="0"/>
                <a:cs typeface="Calibri" panose="020F0502020204030204" pitchFamily="34" charset="0"/>
              </a:rPr>
              <a:t>, and the Google Gemini API. </a:t>
            </a:r>
          </a:p>
          <a:p>
            <a:r>
              <a:rPr lang="en-US" sz="1400" dirty="0">
                <a:latin typeface="Calibri" panose="020F0502020204030204" pitchFamily="34" charset="0"/>
                <a:ea typeface="Calibri" panose="020F0502020204030204" pitchFamily="34" charset="0"/>
                <a:cs typeface="Calibri" panose="020F0502020204030204" pitchFamily="34" charset="0"/>
              </a:rPr>
              <a:t>It provides students with an intelligent and interactive learning environment that simplifies studying and enhances knowledge retention</a:t>
            </a:r>
          </a:p>
          <a:p>
            <a:r>
              <a:rPr lang="en-US" sz="1400" b="1" dirty="0">
                <a:latin typeface="Calibri" panose="020F0502020204030204" pitchFamily="34" charset="0"/>
                <a:ea typeface="Calibri" panose="020F0502020204030204" pitchFamily="34" charset="0"/>
                <a:cs typeface="Calibri" panose="020F0502020204030204" pitchFamily="34" charset="0"/>
              </a:rPr>
              <a:t>Concept Clarification</a:t>
            </a:r>
          </a:p>
          <a:p>
            <a:r>
              <a:rPr lang="en-US" sz="1400" dirty="0">
                <a:latin typeface="Calibri" panose="020F0502020204030204" pitchFamily="34" charset="0"/>
                <a:ea typeface="Calibri" panose="020F0502020204030204" pitchFamily="34" charset="0"/>
                <a:cs typeface="Calibri" panose="020F0502020204030204" pitchFamily="34" charset="0"/>
              </a:rPr>
              <a:t>The system explains complex topics in a simple and structured manner. Users can either enter a concept or upload a PDF document, and the AI generates easy-to-understand explanations with real-world analogies and key insights.</a:t>
            </a:r>
          </a:p>
          <a:p>
            <a:r>
              <a:rPr lang="en-US" sz="1400" b="1" dirty="0">
                <a:latin typeface="Calibri" panose="020F0502020204030204" pitchFamily="34" charset="0"/>
                <a:ea typeface="Calibri" panose="020F0502020204030204" pitchFamily="34" charset="0"/>
                <a:cs typeface="Calibri" panose="020F0502020204030204" pitchFamily="34" charset="0"/>
              </a:rPr>
              <a:t>Intelligent Note </a:t>
            </a:r>
            <a:r>
              <a:rPr lang="en-US" sz="1400" b="1" dirty="0" err="1">
                <a:latin typeface="Calibri" panose="020F0502020204030204" pitchFamily="34" charset="0"/>
                <a:ea typeface="Calibri" panose="020F0502020204030204" pitchFamily="34" charset="0"/>
                <a:cs typeface="Calibri" panose="020F0502020204030204" pitchFamily="34" charset="0"/>
              </a:rPr>
              <a:t>Summarisation</a:t>
            </a:r>
            <a:endParaRPr lang="en-US" sz="1400" b="1"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Students can upload lecture notes or PDF documents to automatically generate concise summaries, important concepts, key terms, and common mistakes, reducing study time while improving understanding.</a:t>
            </a:r>
          </a:p>
          <a:p>
            <a:r>
              <a:rPr lang="en-US" sz="1400" b="1" dirty="0">
                <a:latin typeface="Calibri" panose="020F0502020204030204" pitchFamily="34" charset="0"/>
                <a:ea typeface="Calibri" panose="020F0502020204030204" pitchFamily="34" charset="0"/>
                <a:cs typeface="Calibri" panose="020F0502020204030204" pitchFamily="34" charset="0"/>
              </a:rPr>
              <a:t>Flashcard Generation</a:t>
            </a:r>
          </a:p>
          <a:p>
            <a:r>
              <a:rPr lang="en-US" sz="1400" dirty="0">
                <a:latin typeface="Calibri" panose="020F0502020204030204" pitchFamily="34" charset="0"/>
                <a:ea typeface="Calibri" panose="020F0502020204030204" pitchFamily="34" charset="0"/>
                <a:cs typeface="Calibri" panose="020F0502020204030204" pitchFamily="34" charset="0"/>
              </a:rPr>
              <a:t>The application automatically creates AI-powered flashcards from the selected topic, enabling active recall and efficient revision through question-and-answer learning.</a:t>
            </a:r>
          </a:p>
          <a:p>
            <a:r>
              <a:rPr lang="en-US" sz="1400" b="1" dirty="0">
                <a:latin typeface="Calibri" panose="020F0502020204030204" pitchFamily="34" charset="0"/>
                <a:ea typeface="Calibri" panose="020F0502020204030204" pitchFamily="34" charset="0"/>
                <a:cs typeface="Calibri" panose="020F0502020204030204" pitchFamily="34" charset="0"/>
              </a:rPr>
              <a:t>Practice Quiz Generation</a:t>
            </a:r>
          </a:p>
          <a:p>
            <a:r>
              <a:rPr lang="en-US" sz="1400" dirty="0" err="1">
                <a:latin typeface="Calibri" panose="020F0502020204030204" pitchFamily="34" charset="0"/>
                <a:ea typeface="Calibri" panose="020F0502020204030204" pitchFamily="34" charset="0"/>
                <a:cs typeface="Calibri" panose="020F0502020204030204" pitchFamily="34" charset="0"/>
              </a:rPr>
              <a:t>SmartLearn</a:t>
            </a:r>
            <a:r>
              <a:rPr lang="en-US" sz="1400" dirty="0">
                <a:latin typeface="Calibri" panose="020F0502020204030204" pitchFamily="34" charset="0"/>
                <a:ea typeface="Calibri" panose="020F0502020204030204" pitchFamily="34" charset="0"/>
                <a:cs typeface="Calibri" panose="020F0502020204030204" pitchFamily="34" charset="0"/>
              </a:rPr>
              <a:t> AI generates multiple-choice quizzes based on user-selected topics.</a:t>
            </a:r>
          </a:p>
          <a:p>
            <a:r>
              <a:rPr lang="en-US" sz="1400" dirty="0">
                <a:latin typeface="Calibri" panose="020F0502020204030204" pitchFamily="34" charset="0"/>
                <a:ea typeface="Calibri" panose="020F0502020204030204" pitchFamily="34" charset="0"/>
                <a:cs typeface="Calibri" panose="020F0502020204030204" pitchFamily="34" charset="0"/>
              </a:rPr>
              <a:t> It evaluates user responses instantly, provides explanations for each answer, and displays the final score to assess learning progress.</a:t>
            </a:r>
          </a:p>
          <a:p>
            <a:r>
              <a:rPr lang="en-US" sz="1400" b="1" dirty="0">
                <a:latin typeface="Calibri" panose="020F0502020204030204" pitchFamily="34" charset="0"/>
                <a:ea typeface="Calibri" panose="020F0502020204030204" pitchFamily="34" charset="0"/>
                <a:cs typeface="Calibri" panose="020F0502020204030204" pitchFamily="34" charset="0"/>
              </a:rPr>
              <a:t>Interactive User Interface</a:t>
            </a:r>
          </a:p>
          <a:p>
            <a:r>
              <a:rPr lang="en-US" sz="1400" dirty="0">
                <a:latin typeface="Calibri" panose="020F0502020204030204" pitchFamily="34" charset="0"/>
                <a:ea typeface="Calibri" panose="020F0502020204030204" pitchFamily="34" charset="0"/>
                <a:cs typeface="Calibri" panose="020F0502020204030204" pitchFamily="34" charset="0"/>
              </a:rPr>
              <a:t>The application is built with </a:t>
            </a:r>
            <a:r>
              <a:rPr lang="en-US" sz="1400" dirty="0" err="1">
                <a:latin typeface="Calibri" panose="020F0502020204030204" pitchFamily="34" charset="0"/>
                <a:ea typeface="Calibri" panose="020F0502020204030204" pitchFamily="34" charset="0"/>
                <a:cs typeface="Calibri" panose="020F0502020204030204" pitchFamily="34" charset="0"/>
              </a:rPr>
              <a:t>Streamlit</a:t>
            </a:r>
            <a:r>
              <a:rPr lang="en-US" sz="1400" dirty="0">
                <a:latin typeface="Calibri" panose="020F0502020204030204" pitchFamily="34" charset="0"/>
                <a:ea typeface="Calibri" panose="020F0502020204030204" pitchFamily="34" charset="0"/>
                <a:cs typeface="Calibri" panose="020F0502020204030204" pitchFamily="34" charset="0"/>
              </a:rPr>
              <a:t>, offering a responsive, user-friendly interface with organized learning modules, PDF upload support, and real-time AI-generated educational content.</a:t>
            </a:r>
          </a:p>
          <a:p>
            <a:r>
              <a:rPr lang="en-US" sz="1400" b="1" dirty="0">
                <a:latin typeface="Calibri" panose="020F0502020204030204" pitchFamily="34" charset="0"/>
                <a:ea typeface="Calibri" panose="020F0502020204030204" pitchFamily="34" charset="0"/>
                <a:cs typeface="Calibri" panose="020F0502020204030204" pitchFamily="34" charset="0"/>
              </a:rPr>
              <a:t>Expected Benefits</a:t>
            </a:r>
          </a:p>
          <a:p>
            <a:r>
              <a:rPr lang="en-US" sz="1400" dirty="0">
                <a:latin typeface="Calibri" panose="020F0502020204030204" pitchFamily="34" charset="0"/>
                <a:ea typeface="Calibri" panose="020F0502020204030204" pitchFamily="34" charset="0"/>
                <a:cs typeface="Calibri" panose="020F0502020204030204" pitchFamily="34" charset="0"/>
              </a:rPr>
              <a:t>Reduces manual study effort.</a:t>
            </a:r>
          </a:p>
          <a:p>
            <a:r>
              <a:rPr lang="en-US" sz="1400" dirty="0">
                <a:latin typeface="Calibri" panose="020F0502020204030204" pitchFamily="34" charset="0"/>
                <a:ea typeface="Calibri" panose="020F0502020204030204" pitchFamily="34" charset="0"/>
                <a:cs typeface="Calibri" panose="020F0502020204030204" pitchFamily="34" charset="0"/>
              </a:rPr>
              <a:t>Improves concept understanding.</a:t>
            </a:r>
          </a:p>
          <a:p>
            <a:r>
              <a:rPr lang="en-US" sz="1400" dirty="0">
                <a:latin typeface="Calibri" panose="020F0502020204030204" pitchFamily="34" charset="0"/>
                <a:ea typeface="Calibri" panose="020F0502020204030204" pitchFamily="34" charset="0"/>
                <a:cs typeface="Calibri" panose="020F0502020204030204" pitchFamily="34" charset="0"/>
              </a:rPr>
              <a:t>Enhances revision through flashcards.</a:t>
            </a:r>
          </a:p>
          <a:p>
            <a:r>
              <a:rPr lang="en-US" sz="1400" dirty="0">
                <a:latin typeface="Calibri" panose="020F0502020204030204" pitchFamily="34" charset="0"/>
                <a:ea typeface="Calibri" panose="020F0502020204030204" pitchFamily="34" charset="0"/>
                <a:cs typeface="Calibri" panose="020F0502020204030204" pitchFamily="34" charset="0"/>
              </a:rPr>
              <a:t>Enables self-assessment with AI-generated quizzes.</a:t>
            </a:r>
          </a:p>
          <a:p>
            <a:r>
              <a:rPr lang="en-US" sz="1400" dirty="0">
                <a:latin typeface="Calibri" panose="020F0502020204030204" pitchFamily="34" charset="0"/>
                <a:ea typeface="Calibri" panose="020F0502020204030204" pitchFamily="34" charset="0"/>
                <a:cs typeface="Calibri" panose="020F0502020204030204" pitchFamily="34" charset="0"/>
              </a:rPr>
              <a:t>Supports </a:t>
            </a:r>
            <a:r>
              <a:rPr lang="en-US" sz="1400" dirty="0" err="1">
                <a:latin typeface="Calibri" panose="020F0502020204030204" pitchFamily="34" charset="0"/>
                <a:ea typeface="Calibri" panose="020F0502020204030204" pitchFamily="34" charset="0"/>
                <a:cs typeface="Calibri" panose="020F0502020204030204" pitchFamily="34" charset="0"/>
              </a:rPr>
              <a:t>personalised</a:t>
            </a:r>
            <a:r>
              <a:rPr lang="en-US" sz="1400" dirty="0">
                <a:latin typeface="Calibri" panose="020F0502020204030204" pitchFamily="34" charset="0"/>
                <a:ea typeface="Calibri" panose="020F0502020204030204" pitchFamily="34" charset="0"/>
                <a:cs typeface="Calibri" panose="020F0502020204030204" pitchFamily="34" charset="0"/>
              </a:rPr>
              <a:t> and efficient learning</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4" name="TextBox 3">
            <a:extLst>
              <a:ext uri="{FF2B5EF4-FFF2-40B4-BE49-F238E27FC236}">
                <a16:creationId xmlns:a16="http://schemas.microsoft.com/office/drawing/2014/main" id="{A7B8B815-8BF7-FE68-71E3-22768D2CF443}"/>
              </a:ext>
            </a:extLst>
          </p:cNvPr>
          <p:cNvSpPr txBox="1"/>
          <p:nvPr/>
        </p:nvSpPr>
        <p:spPr>
          <a:xfrm>
            <a:off x="659850" y="1120878"/>
            <a:ext cx="10666911" cy="5262979"/>
          </a:xfrm>
          <a:prstGeom prst="rect">
            <a:avLst/>
          </a:prstGeom>
          <a:noFill/>
        </p:spPr>
        <p:txBody>
          <a:bodyPr wrap="square" rtlCol="0">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Requirement Analysis</a:t>
            </a:r>
          </a:p>
          <a:p>
            <a:r>
              <a:rPr lang="en-US" sz="1400" dirty="0">
                <a:latin typeface="Calibri" panose="020F0502020204030204" pitchFamily="34" charset="0"/>
                <a:ea typeface="Calibri" panose="020F0502020204030204" pitchFamily="34" charset="0"/>
                <a:cs typeface="Calibri" panose="020F0502020204030204" pitchFamily="34" charset="0"/>
              </a:rPr>
              <a:t>The project requirements were identified by analyzing the challenges faced by students in understanding concepts, preparing study notes, revising topics, and evaluating their learning. </a:t>
            </a:r>
          </a:p>
          <a:p>
            <a:r>
              <a:rPr lang="en-US" sz="1400" dirty="0">
                <a:latin typeface="Calibri" panose="020F0502020204030204" pitchFamily="34" charset="0"/>
                <a:ea typeface="Calibri" panose="020F0502020204030204" pitchFamily="34" charset="0"/>
                <a:cs typeface="Calibri" panose="020F0502020204030204" pitchFamily="34" charset="0"/>
              </a:rPr>
              <a:t>The objective was to develop a single AI-powered platform that integrates all these educational functionalities.</a:t>
            </a:r>
          </a:p>
          <a:p>
            <a:r>
              <a:rPr lang="en-US" sz="1400" b="1" dirty="0">
                <a:latin typeface="Calibri" panose="020F0502020204030204" pitchFamily="34" charset="0"/>
                <a:ea typeface="Calibri" panose="020F0502020204030204" pitchFamily="34" charset="0"/>
                <a:cs typeface="Calibri" panose="020F0502020204030204" pitchFamily="34" charset="0"/>
              </a:rPr>
              <a:t>System Design</a:t>
            </a:r>
          </a:p>
          <a:p>
            <a:r>
              <a:rPr lang="en-US" sz="1400" dirty="0">
                <a:latin typeface="Calibri" panose="020F0502020204030204" pitchFamily="34" charset="0"/>
                <a:ea typeface="Calibri" panose="020F0502020204030204" pitchFamily="34" charset="0"/>
                <a:cs typeface="Calibri" panose="020F0502020204030204" pitchFamily="34" charset="0"/>
              </a:rPr>
              <a:t>A modular architecture was adopted to improve maintainability and scalability. The application consists of four independent modules:</a:t>
            </a:r>
          </a:p>
          <a:p>
            <a:r>
              <a:rPr lang="en-US" sz="1400" dirty="0">
                <a:latin typeface="Calibri" panose="020F0502020204030204" pitchFamily="34" charset="0"/>
                <a:ea typeface="Calibri" panose="020F0502020204030204" pitchFamily="34" charset="0"/>
                <a:cs typeface="Calibri" panose="020F0502020204030204" pitchFamily="34" charset="0"/>
              </a:rPr>
              <a:t>Concept Clarifier</a:t>
            </a:r>
          </a:p>
          <a:p>
            <a:r>
              <a:rPr lang="en-US" sz="1400" dirty="0">
                <a:latin typeface="Calibri" panose="020F0502020204030204" pitchFamily="34" charset="0"/>
                <a:ea typeface="Calibri" panose="020F0502020204030204" pitchFamily="34" charset="0"/>
                <a:cs typeface="Calibri" panose="020F0502020204030204" pitchFamily="34" charset="0"/>
              </a:rPr>
              <a:t>Note Summarizer</a:t>
            </a:r>
          </a:p>
          <a:p>
            <a:r>
              <a:rPr lang="en-US" sz="1400" dirty="0">
                <a:latin typeface="Calibri" panose="020F0502020204030204" pitchFamily="34" charset="0"/>
                <a:ea typeface="Calibri" panose="020F0502020204030204" pitchFamily="34" charset="0"/>
                <a:cs typeface="Calibri" panose="020F0502020204030204" pitchFamily="34" charset="0"/>
              </a:rPr>
              <a:t>Flashcard Generator</a:t>
            </a:r>
          </a:p>
          <a:p>
            <a:r>
              <a:rPr lang="en-US" sz="1400" dirty="0">
                <a:latin typeface="Calibri" panose="020F0502020204030204" pitchFamily="34" charset="0"/>
                <a:ea typeface="Calibri" panose="020F0502020204030204" pitchFamily="34" charset="0"/>
                <a:cs typeface="Calibri" panose="020F0502020204030204" pitchFamily="34" charset="0"/>
              </a:rPr>
              <a:t>Practice Quiz Generator</a:t>
            </a:r>
          </a:p>
          <a:p>
            <a:r>
              <a:rPr lang="en-US" sz="1400" dirty="0">
                <a:latin typeface="Calibri" panose="020F0502020204030204" pitchFamily="34" charset="0"/>
                <a:ea typeface="Calibri" panose="020F0502020204030204" pitchFamily="34" charset="0"/>
                <a:cs typeface="Calibri" panose="020F0502020204030204" pitchFamily="34" charset="0"/>
              </a:rPr>
              <a:t>Each module communicates with the Google Gemini AI model to generate intelligent educational content.</a:t>
            </a:r>
          </a:p>
          <a:p>
            <a:r>
              <a:rPr lang="en-US" sz="1400" b="1" dirty="0">
                <a:latin typeface="Calibri" panose="020F0502020204030204" pitchFamily="34" charset="0"/>
                <a:ea typeface="Calibri" panose="020F0502020204030204" pitchFamily="34" charset="0"/>
                <a:cs typeface="Calibri" panose="020F0502020204030204" pitchFamily="34" charset="0"/>
              </a:rPr>
              <a:t>Technology Stack</a:t>
            </a:r>
          </a:p>
          <a:p>
            <a:r>
              <a:rPr lang="en-US" sz="1400" dirty="0">
                <a:latin typeface="Calibri" panose="020F0502020204030204" pitchFamily="34" charset="0"/>
                <a:ea typeface="Calibri" panose="020F0502020204030204" pitchFamily="34" charset="0"/>
                <a:cs typeface="Calibri" panose="020F0502020204030204" pitchFamily="34" charset="0"/>
              </a:rPr>
              <a:t>Programming Language: Python</a:t>
            </a:r>
          </a:p>
          <a:p>
            <a:r>
              <a:rPr lang="en-US" sz="1400" dirty="0">
                <a:latin typeface="Calibri" panose="020F0502020204030204" pitchFamily="34" charset="0"/>
                <a:ea typeface="Calibri" panose="020F0502020204030204" pitchFamily="34" charset="0"/>
                <a:cs typeface="Calibri" panose="020F0502020204030204" pitchFamily="34" charset="0"/>
              </a:rPr>
              <a:t>Frontend Framework: </a:t>
            </a:r>
            <a:r>
              <a:rPr lang="en-US" sz="1400" dirty="0" err="1">
                <a:latin typeface="Calibri" panose="020F0502020204030204" pitchFamily="34" charset="0"/>
                <a:ea typeface="Calibri" panose="020F0502020204030204" pitchFamily="34" charset="0"/>
                <a:cs typeface="Calibri" panose="020F0502020204030204" pitchFamily="34" charset="0"/>
              </a:rPr>
              <a:t>Streamlit</a:t>
            </a:r>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Artificial Intelligence: Google Gemini 2.5 Flash API</a:t>
            </a:r>
          </a:p>
          <a:p>
            <a:r>
              <a:rPr lang="en-US" sz="1400" dirty="0">
                <a:latin typeface="Calibri" panose="020F0502020204030204" pitchFamily="34" charset="0"/>
                <a:ea typeface="Calibri" panose="020F0502020204030204" pitchFamily="34" charset="0"/>
                <a:cs typeface="Calibri" panose="020F0502020204030204" pitchFamily="34" charset="0"/>
              </a:rPr>
              <a:t>Libraries: </a:t>
            </a:r>
            <a:r>
              <a:rPr lang="en-US" sz="1400" dirty="0" err="1">
                <a:latin typeface="Calibri" panose="020F0502020204030204" pitchFamily="34" charset="0"/>
                <a:ea typeface="Calibri" panose="020F0502020204030204" pitchFamily="34" charset="0"/>
                <a:cs typeface="Calibri" panose="020F0502020204030204" pitchFamily="34" charset="0"/>
              </a:rPr>
              <a:t>Streamlit</a:t>
            </a:r>
            <a:r>
              <a:rPr lang="en-US" sz="1400" dirty="0">
                <a:latin typeface="Calibri" panose="020F0502020204030204" pitchFamily="34" charset="0"/>
                <a:ea typeface="Calibri" panose="020F0502020204030204" pitchFamily="34" charset="0"/>
                <a:cs typeface="Calibri" panose="020F0502020204030204" pitchFamily="34" charset="0"/>
              </a:rPr>
              <a:t>, Google GenAI SDK, JSON</a:t>
            </a:r>
          </a:p>
          <a:p>
            <a:r>
              <a:rPr lang="en-US" sz="1400" dirty="0">
                <a:latin typeface="Calibri" panose="020F0502020204030204" pitchFamily="34" charset="0"/>
                <a:ea typeface="Calibri" panose="020F0502020204030204" pitchFamily="34" charset="0"/>
                <a:cs typeface="Calibri" panose="020F0502020204030204" pitchFamily="34" charset="0"/>
              </a:rPr>
              <a:t>Input Formats: Text and PDF Documents</a:t>
            </a:r>
          </a:p>
          <a:p>
            <a:r>
              <a:rPr lang="en-US" sz="1400" b="1" dirty="0">
                <a:latin typeface="Calibri" panose="020F0502020204030204" pitchFamily="34" charset="0"/>
                <a:ea typeface="Calibri" panose="020F0502020204030204" pitchFamily="34" charset="0"/>
                <a:cs typeface="Calibri" panose="020F0502020204030204" pitchFamily="34" charset="0"/>
              </a:rPr>
              <a:t>Implementation</a:t>
            </a:r>
          </a:p>
          <a:p>
            <a:r>
              <a:rPr lang="en-US" sz="1400" dirty="0">
                <a:latin typeface="Calibri" panose="020F0502020204030204" pitchFamily="34" charset="0"/>
                <a:ea typeface="Calibri" panose="020F0502020204030204" pitchFamily="34" charset="0"/>
                <a:cs typeface="Calibri" panose="020F0502020204030204" pitchFamily="34" charset="0"/>
              </a:rPr>
              <a:t>The application was implemented using </a:t>
            </a:r>
            <a:r>
              <a:rPr lang="en-US" sz="1400" dirty="0" err="1">
                <a:latin typeface="Calibri" panose="020F0502020204030204" pitchFamily="34" charset="0"/>
                <a:ea typeface="Calibri" panose="020F0502020204030204" pitchFamily="34" charset="0"/>
                <a:cs typeface="Calibri" panose="020F0502020204030204" pitchFamily="34" charset="0"/>
              </a:rPr>
              <a:t>Streamlit</a:t>
            </a:r>
            <a:r>
              <a:rPr lang="en-US" sz="1400" dirty="0">
                <a:latin typeface="Calibri" panose="020F0502020204030204" pitchFamily="34" charset="0"/>
                <a:ea typeface="Calibri" panose="020F0502020204030204" pitchFamily="34" charset="0"/>
                <a:cs typeface="Calibri" panose="020F0502020204030204" pitchFamily="34" charset="0"/>
              </a:rPr>
              <a:t> to provide an interactive web interface.</a:t>
            </a:r>
          </a:p>
          <a:p>
            <a:r>
              <a:rPr lang="en-US" sz="1400" dirty="0">
                <a:latin typeface="Calibri" panose="020F0502020204030204" pitchFamily="34" charset="0"/>
                <a:ea typeface="Calibri" panose="020F0502020204030204" pitchFamily="34" charset="0"/>
                <a:cs typeface="Calibri" panose="020F0502020204030204" pitchFamily="34" charset="0"/>
              </a:rPr>
              <a:t> User inputs are processed and sent to the Gemini AI model, which generates explanations, summaries, flashcards, or quizzes.</a:t>
            </a:r>
          </a:p>
          <a:p>
            <a:r>
              <a:rPr lang="en-US" sz="1400" dirty="0">
                <a:latin typeface="Calibri" panose="020F0502020204030204" pitchFamily="34" charset="0"/>
                <a:ea typeface="Calibri" panose="020F0502020204030204" pitchFamily="34" charset="0"/>
                <a:cs typeface="Calibri" panose="020F0502020204030204" pitchFamily="34" charset="0"/>
              </a:rPr>
              <a:t> The generated results are displayed instantly within the application.</a:t>
            </a:r>
          </a:p>
          <a:p>
            <a:r>
              <a:rPr lang="en-US" sz="1400" b="1" dirty="0">
                <a:latin typeface="Calibri" panose="020F0502020204030204" pitchFamily="34" charset="0"/>
                <a:ea typeface="Calibri" panose="020F0502020204030204" pitchFamily="34" charset="0"/>
                <a:cs typeface="Calibri" panose="020F0502020204030204" pitchFamily="34" charset="0"/>
              </a:rPr>
              <a:t>Testing</a:t>
            </a:r>
          </a:p>
          <a:p>
            <a:r>
              <a:rPr lang="en-US" sz="1400" dirty="0">
                <a:latin typeface="Calibri" panose="020F0502020204030204" pitchFamily="34" charset="0"/>
                <a:ea typeface="Calibri" panose="020F0502020204030204" pitchFamily="34" charset="0"/>
                <a:cs typeface="Calibri" panose="020F0502020204030204" pitchFamily="34" charset="0"/>
              </a:rPr>
              <a:t>Each module was tested using different topics and PDF documents to verify the accuracy of AI-generated responses, proper PDF processing, quiz evaluation, and overall system performance.</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3315522"/>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0FEA18E2-DB85-A6F3-2CD1-9EE9A051ABFD}"/>
              </a:ext>
            </a:extLst>
          </p:cNvPr>
          <p:cNvSpPr txBox="1"/>
          <p:nvPr/>
        </p:nvSpPr>
        <p:spPr>
          <a:xfrm>
            <a:off x="581192" y="1124297"/>
            <a:ext cx="10746658" cy="5909310"/>
          </a:xfrm>
          <a:prstGeom prst="rect">
            <a:avLst/>
          </a:prstGeom>
          <a:noFill/>
        </p:spPr>
        <p:txBody>
          <a:bodyPr wrap="square" rtlCol="0">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User Authentication</a:t>
            </a:r>
          </a:p>
          <a:p>
            <a:r>
              <a:rPr lang="en-US" sz="1400" dirty="0">
                <a:latin typeface="Calibri" panose="020F0502020204030204" pitchFamily="34" charset="0"/>
                <a:ea typeface="Calibri" panose="020F0502020204030204" pitchFamily="34" charset="0"/>
                <a:cs typeface="Calibri" panose="020F0502020204030204" pitchFamily="34" charset="0"/>
              </a:rPr>
              <a:t>The user launches the </a:t>
            </a:r>
            <a:r>
              <a:rPr lang="en-US" sz="1400" dirty="0" err="1">
                <a:latin typeface="Calibri" panose="020F0502020204030204" pitchFamily="34" charset="0"/>
                <a:ea typeface="Calibri" panose="020F0502020204030204" pitchFamily="34" charset="0"/>
                <a:cs typeface="Calibri" panose="020F0502020204030204" pitchFamily="34" charset="0"/>
              </a:rPr>
              <a:t>SmartLearn</a:t>
            </a:r>
            <a:r>
              <a:rPr lang="en-US" sz="1400" dirty="0">
                <a:latin typeface="Calibri" panose="020F0502020204030204" pitchFamily="34" charset="0"/>
                <a:ea typeface="Calibri" panose="020F0502020204030204" pitchFamily="34" charset="0"/>
                <a:cs typeface="Calibri" panose="020F0502020204030204" pitchFamily="34" charset="0"/>
              </a:rPr>
              <a:t> AI application.</a:t>
            </a:r>
          </a:p>
          <a:p>
            <a:r>
              <a:rPr lang="en-US" sz="1400" b="1" dirty="0">
                <a:latin typeface="Calibri" panose="020F0502020204030204" pitchFamily="34" charset="0"/>
                <a:ea typeface="Calibri" panose="020F0502020204030204" pitchFamily="34" charset="0"/>
                <a:cs typeface="Calibri" panose="020F0502020204030204" pitchFamily="34" charset="0"/>
              </a:rPr>
              <a:t>Module Selection</a:t>
            </a:r>
          </a:p>
          <a:p>
            <a:r>
              <a:rPr lang="en-US" sz="1400" dirty="0">
                <a:latin typeface="Calibri" panose="020F0502020204030204" pitchFamily="34" charset="0"/>
                <a:ea typeface="Calibri" panose="020F0502020204030204" pitchFamily="34" charset="0"/>
                <a:cs typeface="Calibri" panose="020F0502020204030204" pitchFamily="34" charset="0"/>
              </a:rPr>
              <a:t>The user selects one of the available learning modules:</a:t>
            </a:r>
          </a:p>
          <a:p>
            <a:r>
              <a:rPr lang="en-US" sz="1400" dirty="0">
                <a:latin typeface="Calibri" panose="020F0502020204030204" pitchFamily="34" charset="0"/>
                <a:ea typeface="Calibri" panose="020F0502020204030204" pitchFamily="34" charset="0"/>
                <a:cs typeface="Calibri" panose="020F0502020204030204" pitchFamily="34" charset="0"/>
              </a:rPr>
              <a:t>Concept Clarifier</a:t>
            </a:r>
          </a:p>
          <a:p>
            <a:r>
              <a:rPr lang="en-US" sz="1400" dirty="0">
                <a:latin typeface="Calibri" panose="020F0502020204030204" pitchFamily="34" charset="0"/>
                <a:ea typeface="Calibri" panose="020F0502020204030204" pitchFamily="34" charset="0"/>
                <a:cs typeface="Calibri" panose="020F0502020204030204" pitchFamily="34" charset="0"/>
              </a:rPr>
              <a:t>Note Summarizer</a:t>
            </a:r>
          </a:p>
          <a:p>
            <a:r>
              <a:rPr lang="en-US" sz="1400" dirty="0">
                <a:latin typeface="Calibri" panose="020F0502020204030204" pitchFamily="34" charset="0"/>
                <a:ea typeface="Calibri" panose="020F0502020204030204" pitchFamily="34" charset="0"/>
                <a:cs typeface="Calibri" panose="020F0502020204030204" pitchFamily="34" charset="0"/>
              </a:rPr>
              <a:t>Flashcards</a:t>
            </a:r>
          </a:p>
          <a:p>
            <a:r>
              <a:rPr lang="en-US" sz="1400" dirty="0">
                <a:latin typeface="Calibri" panose="020F0502020204030204" pitchFamily="34" charset="0"/>
                <a:ea typeface="Calibri" panose="020F0502020204030204" pitchFamily="34" charset="0"/>
                <a:cs typeface="Calibri" panose="020F0502020204030204" pitchFamily="34" charset="0"/>
              </a:rPr>
              <a:t>Practice Quiz</a:t>
            </a:r>
          </a:p>
          <a:p>
            <a:r>
              <a:rPr lang="en-US" sz="1400" b="1" dirty="0">
                <a:latin typeface="Calibri" panose="020F0502020204030204" pitchFamily="34" charset="0"/>
                <a:ea typeface="Calibri" panose="020F0502020204030204" pitchFamily="34" charset="0"/>
                <a:cs typeface="Calibri" panose="020F0502020204030204" pitchFamily="34" charset="0"/>
              </a:rPr>
              <a:t>Input Submission</a:t>
            </a:r>
          </a:p>
          <a:p>
            <a:r>
              <a:rPr lang="en-US" sz="1400" dirty="0">
                <a:latin typeface="Calibri" panose="020F0502020204030204" pitchFamily="34" charset="0"/>
                <a:ea typeface="Calibri" panose="020F0502020204030204" pitchFamily="34" charset="0"/>
                <a:cs typeface="Calibri" panose="020F0502020204030204" pitchFamily="34" charset="0"/>
              </a:rPr>
              <a:t>The user enters a topic or uploads a PDF document</a:t>
            </a:r>
          </a:p>
          <a:p>
            <a:r>
              <a:rPr lang="en-US" sz="1400" b="1" dirty="0">
                <a:latin typeface="Calibri" panose="020F0502020204030204" pitchFamily="34" charset="0"/>
                <a:ea typeface="Calibri" panose="020F0502020204030204" pitchFamily="34" charset="0"/>
                <a:cs typeface="Calibri" panose="020F0502020204030204" pitchFamily="34" charset="0"/>
              </a:rPr>
              <a:t>Data Processing</a:t>
            </a:r>
          </a:p>
          <a:p>
            <a:r>
              <a:rPr lang="en-US" sz="1400" dirty="0">
                <a:latin typeface="Calibri" panose="020F0502020204030204" pitchFamily="34" charset="0"/>
                <a:ea typeface="Calibri" panose="020F0502020204030204" pitchFamily="34" charset="0"/>
                <a:cs typeface="Calibri" panose="020F0502020204030204" pitchFamily="34" charset="0"/>
              </a:rPr>
              <a:t>The application validates the input and prepares the request.</a:t>
            </a:r>
          </a:p>
          <a:p>
            <a:r>
              <a:rPr lang="en-US" sz="1400" b="1" dirty="0">
                <a:latin typeface="Calibri" panose="020F0502020204030204" pitchFamily="34" charset="0"/>
                <a:ea typeface="Calibri" panose="020F0502020204030204" pitchFamily="34" charset="0"/>
                <a:cs typeface="Calibri" panose="020F0502020204030204" pitchFamily="34" charset="0"/>
              </a:rPr>
              <a:t>AI Processing</a:t>
            </a:r>
          </a:p>
          <a:p>
            <a:r>
              <a:rPr lang="en-US" sz="1400" dirty="0">
                <a:latin typeface="Calibri" panose="020F0502020204030204" pitchFamily="34" charset="0"/>
                <a:ea typeface="Calibri" panose="020F0502020204030204" pitchFamily="34" charset="0"/>
                <a:cs typeface="Calibri" panose="020F0502020204030204" pitchFamily="34" charset="0"/>
              </a:rPr>
              <a:t>The processed input is sent to the Google Gemini API, where the AI model analyzes the content and generates the required educational output. </a:t>
            </a:r>
          </a:p>
          <a:p>
            <a:r>
              <a:rPr lang="en-US" sz="1400" b="1" dirty="0">
                <a:latin typeface="Calibri" panose="020F0502020204030204" pitchFamily="34" charset="0"/>
                <a:ea typeface="Calibri" panose="020F0502020204030204" pitchFamily="34" charset="0"/>
                <a:cs typeface="Calibri" panose="020F0502020204030204" pitchFamily="34" charset="0"/>
              </a:rPr>
              <a:t>Result Generation</a:t>
            </a:r>
          </a:p>
          <a:p>
            <a:r>
              <a:rPr lang="en-US" sz="1400" dirty="0">
                <a:latin typeface="Calibri" panose="020F0502020204030204" pitchFamily="34" charset="0"/>
                <a:ea typeface="Calibri" panose="020F0502020204030204" pitchFamily="34" charset="0"/>
                <a:cs typeface="Calibri" panose="020F0502020204030204" pitchFamily="34" charset="0"/>
              </a:rPr>
              <a:t>The AI returns:</a:t>
            </a:r>
          </a:p>
          <a:p>
            <a:r>
              <a:rPr lang="en-US" sz="1400" dirty="0">
                <a:latin typeface="Calibri" panose="020F0502020204030204" pitchFamily="34" charset="0"/>
                <a:ea typeface="Calibri" panose="020F0502020204030204" pitchFamily="34" charset="0"/>
                <a:cs typeface="Calibri" panose="020F0502020204030204" pitchFamily="34" charset="0"/>
              </a:rPr>
              <a:t>Concept explanations</a:t>
            </a:r>
          </a:p>
          <a:p>
            <a:r>
              <a:rPr lang="en-US" sz="1400" dirty="0">
                <a:latin typeface="Calibri" panose="020F0502020204030204" pitchFamily="34" charset="0"/>
                <a:ea typeface="Calibri" panose="020F0502020204030204" pitchFamily="34" charset="0"/>
                <a:cs typeface="Calibri" panose="020F0502020204030204" pitchFamily="34" charset="0"/>
              </a:rPr>
              <a:t>Summaries</a:t>
            </a:r>
          </a:p>
          <a:p>
            <a:r>
              <a:rPr lang="en-US" sz="1400" dirty="0">
                <a:latin typeface="Calibri" panose="020F0502020204030204" pitchFamily="34" charset="0"/>
                <a:ea typeface="Calibri" panose="020F0502020204030204" pitchFamily="34" charset="0"/>
                <a:cs typeface="Calibri" panose="020F0502020204030204" pitchFamily="34" charset="0"/>
              </a:rPr>
              <a:t>Flashcards</a:t>
            </a:r>
          </a:p>
          <a:p>
            <a:r>
              <a:rPr lang="en-US" sz="1400" dirty="0">
                <a:latin typeface="Calibri" panose="020F0502020204030204" pitchFamily="34" charset="0"/>
                <a:ea typeface="Calibri" panose="020F0502020204030204" pitchFamily="34" charset="0"/>
                <a:cs typeface="Calibri" panose="020F0502020204030204" pitchFamily="34" charset="0"/>
              </a:rPr>
              <a:t>Quiz questions</a:t>
            </a:r>
          </a:p>
          <a:p>
            <a:r>
              <a:rPr lang="en-US" sz="1400" b="1" dirty="0">
                <a:latin typeface="Calibri" panose="020F0502020204030204" pitchFamily="34" charset="0"/>
                <a:ea typeface="Calibri" panose="020F0502020204030204" pitchFamily="34" charset="0"/>
                <a:cs typeface="Calibri" panose="020F0502020204030204" pitchFamily="34" charset="0"/>
              </a:rPr>
              <a:t>Output Display</a:t>
            </a:r>
          </a:p>
          <a:p>
            <a:r>
              <a:rPr lang="en-US" sz="1400" dirty="0">
                <a:latin typeface="Calibri" panose="020F0502020204030204" pitchFamily="34" charset="0"/>
                <a:ea typeface="Calibri" panose="020F0502020204030204" pitchFamily="34" charset="0"/>
                <a:cs typeface="Calibri" panose="020F0502020204030204" pitchFamily="34" charset="0"/>
              </a:rPr>
              <a:t>The generated content is displayed through the </a:t>
            </a:r>
            <a:r>
              <a:rPr lang="en-US" sz="1400" dirty="0" err="1">
                <a:latin typeface="Calibri" panose="020F0502020204030204" pitchFamily="34" charset="0"/>
                <a:ea typeface="Calibri" panose="020F0502020204030204" pitchFamily="34" charset="0"/>
                <a:cs typeface="Calibri" panose="020F0502020204030204" pitchFamily="34" charset="0"/>
              </a:rPr>
              <a:t>Streamlit</a:t>
            </a:r>
            <a:r>
              <a:rPr lang="en-US" sz="1400" dirty="0">
                <a:latin typeface="Calibri" panose="020F0502020204030204" pitchFamily="34" charset="0"/>
                <a:ea typeface="Calibri" panose="020F0502020204030204" pitchFamily="34" charset="0"/>
                <a:cs typeface="Calibri" panose="020F0502020204030204" pitchFamily="34" charset="0"/>
              </a:rPr>
              <a:t> interface. For quizzes, answers are evaluated and the final score is calculated.</a:t>
            </a:r>
          </a:p>
          <a:p>
            <a:r>
              <a:rPr lang="en-IN" sz="1400" b="1" dirty="0">
                <a:latin typeface="Calibri" panose="020F0502020204030204" pitchFamily="34" charset="0"/>
                <a:ea typeface="Calibri" panose="020F0502020204030204" pitchFamily="34" charset="0"/>
                <a:cs typeface="Calibri" panose="020F0502020204030204" pitchFamily="34" charset="0"/>
              </a:rPr>
              <a:t>Deployment</a:t>
            </a:r>
          </a:p>
          <a:p>
            <a:r>
              <a:rPr lang="en-IN" sz="1400" dirty="0">
                <a:latin typeface="Calibri" panose="020F0502020204030204" pitchFamily="34" charset="0"/>
                <a:ea typeface="Calibri" panose="020F0502020204030204" pitchFamily="34" charset="0"/>
                <a:cs typeface="Calibri" panose="020F0502020204030204" pitchFamily="34" charset="0"/>
              </a:rPr>
              <a:t>The </a:t>
            </a:r>
            <a:r>
              <a:rPr lang="en-IN" sz="1400" dirty="0" err="1">
                <a:latin typeface="Calibri" panose="020F0502020204030204" pitchFamily="34" charset="0"/>
                <a:ea typeface="Calibri" panose="020F0502020204030204" pitchFamily="34" charset="0"/>
                <a:cs typeface="Calibri" panose="020F0502020204030204" pitchFamily="34" charset="0"/>
              </a:rPr>
              <a:t>SmartLearn</a:t>
            </a:r>
            <a:r>
              <a:rPr lang="en-IN" sz="1400" dirty="0">
                <a:latin typeface="Calibri" panose="020F0502020204030204" pitchFamily="34" charset="0"/>
                <a:ea typeface="Calibri" panose="020F0502020204030204" pitchFamily="34" charset="0"/>
                <a:cs typeface="Calibri" panose="020F0502020204030204" pitchFamily="34" charset="0"/>
              </a:rPr>
              <a:t> AI application is developed using Python and deployed through the </a:t>
            </a:r>
            <a:r>
              <a:rPr lang="en-IN" sz="1400" dirty="0" err="1">
                <a:latin typeface="Calibri" panose="020F0502020204030204" pitchFamily="34" charset="0"/>
                <a:ea typeface="Calibri" panose="020F0502020204030204" pitchFamily="34" charset="0"/>
                <a:cs typeface="Calibri" panose="020F0502020204030204" pitchFamily="34" charset="0"/>
              </a:rPr>
              <a:t>Streamlit</a:t>
            </a:r>
            <a:r>
              <a:rPr lang="en-IN" sz="1400" dirty="0">
                <a:latin typeface="Calibri" panose="020F0502020204030204" pitchFamily="34" charset="0"/>
                <a:ea typeface="Calibri" panose="020F0502020204030204" pitchFamily="34" charset="0"/>
                <a:cs typeface="Calibri" panose="020F0502020204030204" pitchFamily="34" charset="0"/>
              </a:rPr>
              <a:t> framework, making it accessible via a web browser. </a:t>
            </a:r>
          </a:p>
          <a:p>
            <a:r>
              <a:rPr lang="en-IN" sz="1400" dirty="0">
                <a:latin typeface="Calibri" panose="020F0502020204030204" pitchFamily="34" charset="0"/>
                <a:ea typeface="Calibri" panose="020F0502020204030204" pitchFamily="34" charset="0"/>
                <a:cs typeface="Calibri" panose="020F0502020204030204" pitchFamily="34" charset="0"/>
              </a:rPr>
              <a:t>It integrates the Google Gemini 2.5 Flash API to generate AI-powered explanations, summaries, flashcards, and quizzes in real time. </a:t>
            </a:r>
          </a:p>
          <a:p>
            <a:r>
              <a:rPr lang="en-IN" sz="1400" dirty="0">
                <a:latin typeface="Calibri" panose="020F0502020204030204" pitchFamily="34" charset="0"/>
                <a:ea typeface="Calibri" panose="020F0502020204030204" pitchFamily="34" charset="0"/>
                <a:cs typeface="Calibri" panose="020F0502020204030204" pitchFamily="34" charset="0"/>
              </a:rPr>
              <a:t>The system can be deployed locally for development or hosted on </a:t>
            </a:r>
            <a:r>
              <a:rPr lang="en-IN" sz="1400" dirty="0" err="1">
                <a:latin typeface="Calibri" panose="020F0502020204030204" pitchFamily="34" charset="0"/>
                <a:ea typeface="Calibri" panose="020F0502020204030204" pitchFamily="34" charset="0"/>
                <a:cs typeface="Calibri" panose="020F0502020204030204" pitchFamily="34" charset="0"/>
              </a:rPr>
              <a:t>Streamlit</a:t>
            </a:r>
            <a:r>
              <a:rPr lang="en-IN" sz="1400" dirty="0">
                <a:latin typeface="Calibri" panose="020F0502020204030204" pitchFamily="34" charset="0"/>
                <a:ea typeface="Calibri" panose="020F0502020204030204" pitchFamily="34" charset="0"/>
                <a:cs typeface="Calibri" panose="020F0502020204030204" pitchFamily="34" charset="0"/>
              </a:rPr>
              <a:t> Community Cloud for online access by students.</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6" name="Content Placeholder 5">
            <a:extLst>
              <a:ext uri="{FF2B5EF4-FFF2-40B4-BE49-F238E27FC236}">
                <a16:creationId xmlns:a16="http://schemas.microsoft.com/office/drawing/2014/main" id="{1AA0972F-DC57-0317-5EF5-2C93E700A3DF}"/>
              </a:ext>
            </a:extLst>
          </p:cNvPr>
          <p:cNvSpPr>
            <a:spLocks noGrp="1"/>
          </p:cNvSpPr>
          <p:nvPr>
            <p:ph idx="1"/>
          </p:nvPr>
        </p:nvSpPr>
        <p:spPr/>
        <p:txBody>
          <a:bodyPr/>
          <a:lstStyle/>
          <a:p>
            <a:pPr marL="0" indent="0" algn="just">
              <a:buNone/>
            </a:pPr>
            <a:r>
              <a:rPr lang="en-US" dirty="0"/>
              <a:t>The </a:t>
            </a:r>
            <a:r>
              <a:rPr lang="en-US" dirty="0" err="1"/>
              <a:t>SmartLearn</a:t>
            </a:r>
            <a:r>
              <a:rPr lang="en-US" dirty="0"/>
              <a:t> AI application was successfully developed and tested. It accurately generated AI-powered concept explanations, note summaries, flashcards, and practice quizzes based on user input or uploaded PDF documents. The system provided an interactive learning experience, reduced study time, and improved students' understanding and self-assessment through real-time AI-generated educational content.</a:t>
            </a:r>
            <a:endParaRPr lang="en-IN"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8DA9E-2EA7-1117-EB15-46689457B3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65924E-5590-8F55-7E49-00497C3E0A89}"/>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842F6F63-10C6-78B4-588B-091BA50B2181}"/>
              </a:ext>
            </a:extLst>
          </p:cNvPr>
          <p:cNvPicPr>
            <a:picLocks noGrp="1" noChangeAspect="1"/>
          </p:cNvPicPr>
          <p:nvPr>
            <p:ph idx="1"/>
          </p:nvPr>
        </p:nvPicPr>
        <p:blipFill>
          <a:blip r:embed="rId2"/>
          <a:stretch>
            <a:fillRect/>
          </a:stretch>
        </p:blipFill>
        <p:spPr bwMode="auto">
          <a:xfrm>
            <a:off x="742880" y="1232452"/>
            <a:ext cx="10706240" cy="523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0577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78817-4F4F-3B07-0E70-9912789268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DCDEB1-777E-9B75-C3D3-A0A759926EF9}"/>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0CFABCCF-FD35-F478-C2A7-3798365EF740}"/>
              </a:ext>
            </a:extLst>
          </p:cNvPr>
          <p:cNvPicPr>
            <a:picLocks noGrp="1" noChangeAspect="1"/>
          </p:cNvPicPr>
          <p:nvPr>
            <p:ph idx="1"/>
          </p:nvPr>
        </p:nvPicPr>
        <p:blipFill>
          <a:blip r:embed="rId2"/>
          <a:srcRect/>
          <a:stretch/>
        </p:blipFill>
        <p:spPr bwMode="auto">
          <a:xfrm>
            <a:off x="742880" y="1232452"/>
            <a:ext cx="10706240" cy="523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0881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225C2-5A69-BB26-AE72-88910806C38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858407-0B9D-E0BC-3476-2FAEA154C51F}"/>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FDA7F7E7-FAE1-A7D1-4101-A293BEC6F923}"/>
              </a:ext>
            </a:extLst>
          </p:cNvPr>
          <p:cNvPicPr>
            <a:picLocks noGrp="1" noChangeAspect="1"/>
          </p:cNvPicPr>
          <p:nvPr>
            <p:ph idx="1"/>
          </p:nvPr>
        </p:nvPicPr>
        <p:blipFill>
          <a:blip r:embed="rId2"/>
          <a:srcRect/>
          <a:stretch/>
        </p:blipFill>
        <p:spPr bwMode="auto">
          <a:xfrm>
            <a:off x="742880" y="1232452"/>
            <a:ext cx="10706240" cy="523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52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61483-63AD-0544-3394-41DB87A38B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1D440E-FA18-7796-3605-0A762FCBC066}"/>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65C6C45E-5F40-3A77-4FD3-9F0DBDD135CE}"/>
              </a:ext>
            </a:extLst>
          </p:cNvPr>
          <p:cNvPicPr>
            <a:picLocks noGrp="1" noChangeAspect="1"/>
          </p:cNvPicPr>
          <p:nvPr>
            <p:ph idx="1"/>
          </p:nvPr>
        </p:nvPicPr>
        <p:blipFill>
          <a:blip r:embed="rId2"/>
          <a:srcRect/>
          <a:stretch/>
        </p:blipFill>
        <p:spPr bwMode="auto">
          <a:xfrm>
            <a:off x="742880" y="1232452"/>
            <a:ext cx="10706240" cy="523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8817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0" indent="0" algn="just">
              <a:buNone/>
            </a:pPr>
            <a:r>
              <a:rPr lang="en-US" sz="2400" dirty="0" err="1">
                <a:latin typeface="Arial" panose="020B0604020202020204" pitchFamily="34" charset="0"/>
                <a:cs typeface="Arial" panose="020B0604020202020204" pitchFamily="34" charset="0"/>
              </a:rPr>
              <a:t>SmartLearn</a:t>
            </a:r>
            <a:r>
              <a:rPr lang="en-US" sz="2400" dirty="0">
                <a:latin typeface="Arial" panose="020B0604020202020204" pitchFamily="34" charset="0"/>
                <a:cs typeface="Arial" panose="020B0604020202020204" pitchFamily="34" charset="0"/>
              </a:rPr>
              <a:t> AI integrates Generative AI into education by providing a single platform for concept learning, note </a:t>
            </a:r>
            <a:r>
              <a:rPr lang="en-US" sz="2400" dirty="0" err="1">
                <a:latin typeface="Arial" panose="020B0604020202020204" pitchFamily="34" charset="0"/>
                <a:cs typeface="Arial" panose="020B0604020202020204" pitchFamily="34" charset="0"/>
              </a:rPr>
              <a:t>summarisation</a:t>
            </a:r>
            <a:r>
              <a:rPr lang="en-US" sz="2400" dirty="0">
                <a:latin typeface="Arial" panose="020B0604020202020204" pitchFamily="34" charset="0"/>
                <a:cs typeface="Arial" panose="020B0604020202020204" pitchFamily="34" charset="0"/>
              </a:rPr>
              <a:t>, revision, and self-assessment. The application reduces manual effort, improves study efficiency, and promotes </a:t>
            </a:r>
            <a:r>
              <a:rPr lang="en-US" sz="2400" dirty="0" err="1">
                <a:latin typeface="Arial" panose="020B0604020202020204" pitchFamily="34" charset="0"/>
                <a:cs typeface="Arial" panose="020B0604020202020204" pitchFamily="34" charset="0"/>
              </a:rPr>
              <a:t>personalised</a:t>
            </a:r>
            <a:r>
              <a:rPr lang="en-US" sz="2400" dirty="0">
                <a:latin typeface="Arial" panose="020B0604020202020204" pitchFamily="34" charset="0"/>
                <a:cs typeface="Arial" panose="020B0604020202020204" pitchFamily="34" charset="0"/>
              </a:rPr>
              <a:t> learning through AI-assisted educational support.</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315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604496" y="1688672"/>
            <a:ext cx="957443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IN" dirty="0"/>
              <a:t>Voice Assistant Integration </a:t>
            </a:r>
          </a:p>
          <a:p>
            <a:pPr lvl="0" eaLnBrk="0" fontAlgn="base" hangingPunct="0">
              <a:spcBef>
                <a:spcPct val="0"/>
              </a:spcBef>
              <a:spcAft>
                <a:spcPct val="0"/>
              </a:spcAft>
              <a:buFontTx/>
              <a:buChar char="•"/>
            </a:pPr>
            <a:r>
              <a:rPr lang="en-IN" dirty="0"/>
              <a:t>Speech-to-Text </a:t>
            </a:r>
          </a:p>
          <a:p>
            <a:pPr lvl="0" eaLnBrk="0" fontAlgn="base" hangingPunct="0">
              <a:spcBef>
                <a:spcPct val="0"/>
              </a:spcBef>
              <a:spcAft>
                <a:spcPct val="0"/>
              </a:spcAft>
              <a:buFontTx/>
              <a:buChar char="•"/>
            </a:pPr>
            <a:r>
              <a:rPr lang="en-IN" dirty="0"/>
              <a:t>Learning OCR for Handwritten Notes</a:t>
            </a:r>
          </a:p>
          <a:p>
            <a:pPr lvl="0" eaLnBrk="0" fontAlgn="base" hangingPunct="0">
              <a:spcBef>
                <a:spcPct val="0"/>
              </a:spcBef>
              <a:spcAft>
                <a:spcPct val="0"/>
              </a:spcAft>
              <a:buFontTx/>
              <a:buChar char="•"/>
            </a:pPr>
            <a:r>
              <a:rPr lang="en-IN" dirty="0"/>
              <a:t> AI-Based Study Planner </a:t>
            </a:r>
          </a:p>
          <a:p>
            <a:pPr lvl="0" eaLnBrk="0" fontAlgn="base" hangingPunct="0">
              <a:spcBef>
                <a:spcPct val="0"/>
              </a:spcBef>
              <a:spcAft>
                <a:spcPct val="0"/>
              </a:spcAft>
              <a:buFontTx/>
              <a:buChar char="•"/>
            </a:pPr>
            <a:r>
              <a:rPr lang="en-IN" dirty="0"/>
              <a:t>Learning Progress Dashboard </a:t>
            </a:r>
          </a:p>
          <a:p>
            <a:pPr lvl="0" eaLnBrk="0" fontAlgn="base" hangingPunct="0">
              <a:spcBef>
                <a:spcPct val="0"/>
              </a:spcBef>
              <a:spcAft>
                <a:spcPct val="0"/>
              </a:spcAft>
              <a:buFontTx/>
              <a:buChar char="•"/>
            </a:pPr>
            <a:r>
              <a:rPr lang="en-IN" dirty="0"/>
              <a:t>Student Login System </a:t>
            </a:r>
          </a:p>
          <a:p>
            <a:pPr lvl="0" eaLnBrk="0" fontAlgn="base" hangingPunct="0">
              <a:spcBef>
                <a:spcPct val="0"/>
              </a:spcBef>
              <a:spcAft>
                <a:spcPct val="0"/>
              </a:spcAft>
              <a:buFontTx/>
              <a:buChar char="•"/>
            </a:pPr>
            <a:r>
              <a:rPr lang="en-IN" dirty="0"/>
              <a:t>Cloud Database Integration</a:t>
            </a:r>
          </a:p>
          <a:p>
            <a:pPr lvl="0" eaLnBrk="0" fontAlgn="base" hangingPunct="0">
              <a:spcBef>
                <a:spcPct val="0"/>
              </a:spcBef>
              <a:spcAft>
                <a:spcPct val="0"/>
              </a:spcAft>
              <a:buFontTx/>
              <a:buChar char="•"/>
            </a:pPr>
            <a:r>
              <a:rPr lang="en-IN" dirty="0"/>
              <a:t> Mobile Application Development </a:t>
            </a:r>
          </a:p>
          <a:p>
            <a:pPr lvl="0" eaLnBrk="0" fontAlgn="base" hangingPunct="0">
              <a:spcBef>
                <a:spcPct val="0"/>
              </a:spcBef>
              <a:spcAft>
                <a:spcPct val="0"/>
              </a:spcAft>
              <a:buFontTx/>
              <a:buChar char="•"/>
            </a:pPr>
            <a:r>
              <a:rPr lang="en-IN" dirty="0"/>
              <a:t>Multi-language Support Performance Analytics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61488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6" name="TextBox 5">
            <a:extLst>
              <a:ext uri="{FF2B5EF4-FFF2-40B4-BE49-F238E27FC236}">
                <a16:creationId xmlns:a16="http://schemas.microsoft.com/office/drawing/2014/main" id="{6868E3FB-22A7-E0B8-4581-182B6AF5A531}"/>
              </a:ext>
            </a:extLst>
          </p:cNvPr>
          <p:cNvSpPr txBox="1"/>
          <p:nvPr/>
        </p:nvSpPr>
        <p:spPr>
          <a:xfrm>
            <a:off x="796685" y="1602360"/>
            <a:ext cx="6096000" cy="369332"/>
          </a:xfrm>
          <a:prstGeom prst="rect">
            <a:avLst/>
          </a:prstGeom>
          <a:noFill/>
        </p:spPr>
        <p:txBody>
          <a:bodyPr wrap="square">
            <a:spAutoFit/>
          </a:bodyPr>
          <a:lstStyle/>
          <a:p>
            <a:r>
              <a:rPr lang="en-US" dirty="0" err="1">
                <a:hlinkClick r:id="rId2"/>
              </a:rPr>
              <a:t>Streamlit</a:t>
            </a:r>
            <a:r>
              <a:rPr lang="en-US" dirty="0">
                <a:hlinkClick r:id="rId2"/>
              </a:rPr>
              <a:t> • A faster way to build and share data apps</a:t>
            </a:r>
            <a:endParaRPr lang="en-IN" dirty="0"/>
          </a:p>
        </p:txBody>
      </p:sp>
      <p:sp>
        <p:nvSpPr>
          <p:cNvPr id="8" name="TextBox 7">
            <a:extLst>
              <a:ext uri="{FF2B5EF4-FFF2-40B4-BE49-F238E27FC236}">
                <a16:creationId xmlns:a16="http://schemas.microsoft.com/office/drawing/2014/main" id="{A0AED30D-1BDE-D15E-24BF-CDF91FB17E3B}"/>
              </a:ext>
            </a:extLst>
          </p:cNvPr>
          <p:cNvSpPr txBox="1"/>
          <p:nvPr/>
        </p:nvSpPr>
        <p:spPr>
          <a:xfrm>
            <a:off x="865511" y="1971692"/>
            <a:ext cx="8534128" cy="3139321"/>
          </a:xfrm>
          <a:prstGeom prst="rect">
            <a:avLst/>
          </a:prstGeom>
          <a:noFill/>
        </p:spPr>
        <p:txBody>
          <a:bodyPr wrap="square">
            <a:spAutoFit/>
          </a:bodyPr>
          <a:lstStyle/>
          <a:p>
            <a:r>
              <a:rPr lang="en-IN" dirty="0">
                <a:hlinkClick r:id="rId3"/>
              </a:rPr>
              <a:t>Welcome to Python.org</a:t>
            </a:r>
            <a:endParaRPr lang="en-IN" dirty="0"/>
          </a:p>
          <a:p>
            <a:r>
              <a:rPr lang="en-IN" dirty="0"/>
              <a:t>Google Gemini API Documentation</a:t>
            </a:r>
          </a:p>
          <a:p>
            <a:r>
              <a:rPr lang="en-IN" dirty="0">
                <a:hlinkClick r:id="rId4"/>
              </a:rPr>
              <a:t>https://ai.google.dev/</a:t>
            </a:r>
            <a:endParaRPr lang="en-IN" dirty="0"/>
          </a:p>
          <a:p>
            <a:r>
              <a:rPr lang="en-IN" dirty="0" err="1"/>
              <a:t>Streamlit</a:t>
            </a:r>
            <a:r>
              <a:rPr lang="en-IN" dirty="0"/>
              <a:t> Documentation</a:t>
            </a:r>
          </a:p>
          <a:p>
            <a:r>
              <a:rPr lang="en-IN" dirty="0">
                <a:hlinkClick r:id="rId5"/>
              </a:rPr>
              <a:t>https://docs.streamlit.io/</a:t>
            </a:r>
            <a:endParaRPr lang="en-IN" dirty="0"/>
          </a:p>
          <a:p>
            <a:r>
              <a:rPr lang="en-IN" dirty="0"/>
              <a:t>Python Official Documentation</a:t>
            </a:r>
          </a:p>
          <a:p>
            <a:r>
              <a:rPr lang="en-IN" dirty="0">
                <a:hlinkClick r:id="rId6"/>
              </a:rPr>
              <a:t>https://docs.python.org/3/</a:t>
            </a:r>
            <a:endParaRPr lang="en-IN" dirty="0"/>
          </a:p>
          <a:p>
            <a:r>
              <a:rPr lang="en-IN" dirty="0"/>
              <a:t>Google GenAI Python SDK Documentation</a:t>
            </a:r>
          </a:p>
          <a:p>
            <a:r>
              <a:rPr lang="en-IN" dirty="0">
                <a:hlinkClick r:id="rId7"/>
              </a:rPr>
              <a:t>https://googleapis.github.io/python-genai/</a:t>
            </a:r>
            <a:endParaRPr lang="en-IN" dirty="0"/>
          </a:p>
          <a:p>
            <a:r>
              <a:rPr lang="en-IN" dirty="0"/>
              <a:t>JSON Documentation</a:t>
            </a:r>
          </a:p>
          <a:p>
            <a:r>
              <a:rPr lang="en-IN" dirty="0"/>
              <a:t>https://www.json.org/json-en.html</a:t>
            </a:r>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a:t>
            </a:r>
            <a:r>
              <a:rPr lang="en-IN" dirty="0">
                <a:hlinkClick r:id="rId2"/>
              </a:rPr>
              <a:t>https://github.com/cpushpalatha9/SmartLearn-AI</a:t>
            </a:r>
            <a:endParaRPr lang="en-IN" dirty="0"/>
          </a:p>
          <a:p>
            <a:r>
              <a:rPr lang="en-IN" dirty="0"/>
              <a:t>Deployment Link: </a:t>
            </a:r>
            <a:r>
              <a:rPr lang="en-IN" dirty="0" err="1"/>
              <a:t>Streamlit</a:t>
            </a:r>
            <a:r>
              <a:rPr lang="en-IN" dirty="0"/>
              <a:t> or </a:t>
            </a:r>
            <a:r>
              <a:rPr lang="en-IN" dirty="0" err="1"/>
              <a:t>gradio</a:t>
            </a:r>
            <a:r>
              <a:rPr lang="en-IN" dirty="0"/>
              <a:t>  links</a:t>
            </a:r>
          </a:p>
        </p:txBody>
      </p:sp>
    </p:spTree>
    <p:extLst>
      <p:ext uri="{BB962C8B-B14F-4D97-AF65-F5344CB8AC3E}">
        <p14:creationId xmlns:p14="http://schemas.microsoft.com/office/powerpoint/2010/main" val="1995909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1575</TotalTime>
  <Words>988</Words>
  <Application>Microsoft Office PowerPoint</Application>
  <PresentationFormat>Widescreen</PresentationFormat>
  <Paragraphs>126</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Franklin Gothic Book</vt:lpstr>
      <vt:lpstr>Franklin Gothic Demi</vt:lpstr>
      <vt:lpstr>Wingdings 2</vt:lpstr>
      <vt:lpstr>DividendVTI</vt:lpstr>
      <vt:lpstr>    Smart Learn AI An Intelligent AI-Powered Study Assistant for Personalised Learning</vt:lpstr>
      <vt:lpstr>OUTLINE</vt:lpstr>
      <vt:lpstr>Problem Statement</vt:lpstr>
      <vt:lpstr>Proposed Solution</vt:lpstr>
      <vt:lpstr>System  Approach</vt:lpstr>
      <vt:lpstr>Algorithm &amp; Deployment</vt:lpstr>
      <vt:lpstr>Result</vt:lpstr>
      <vt:lpstr>Result</vt:lpstr>
      <vt:lpstr>Result</vt:lpstr>
      <vt:lpstr>Result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C MOHAN RAAJ</cp:lastModifiedBy>
  <cp:revision>40</cp:revision>
  <dcterms:created xsi:type="dcterms:W3CDTF">2021-05-26T16:50:10Z</dcterms:created>
  <dcterms:modified xsi:type="dcterms:W3CDTF">2026-06-28T15:06:57Z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